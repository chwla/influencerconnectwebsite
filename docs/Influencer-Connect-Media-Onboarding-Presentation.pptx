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4630400" cy="8229600"/>
  <p:notesSz cx="8229600" cy="14630400"/>
  <p:embeddedFontLst>
    <p:embeddedFont>
      <p:font typeface="Fraunces Extra Bold"/>
      <p:regular r:id="rId18"/>
    </p:embeddedFont>
    <p:embeddedFont>
      <p:font typeface="Fraunces Extra Bold"/>
      <p:regular r:id="rId19"/>
    </p:embeddedFont>
    <p:embeddedFont>
      <p:font typeface="Nobile"/>
      <p:regular r:id="rId20"/>
    </p:embeddedFont>
    <p:embeddedFont>
      <p:font typeface="Nobile"/>
      <p:regular r:id="rId21"/>
    </p:embeddedFont>
    <p:embeddedFont>
      <p:font typeface="Nobile"/>
      <p:regular r:id="rId22"/>
    </p:embeddedFont>
    <p:embeddedFont>
      <p:font typeface="Nobile"/>
      <p:regular r:id="rId23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openxmlformats.org/officeDocument/2006/relationships/font" Target="fonts/font1.fntdata"/><Relationship Id="rId19" Type="http://schemas.openxmlformats.org/officeDocument/2006/relationships/font" Target="fonts/font2.fntdata"/><Relationship Id="rId20" Type="http://schemas.openxmlformats.org/officeDocument/2006/relationships/font" Target="fonts/font3.fntdata"/><Relationship Id="rId21" Type="http://schemas.openxmlformats.org/officeDocument/2006/relationships/font" Target="fonts/font4.fntdata"/><Relationship Id="rId22" Type="http://schemas.openxmlformats.org/officeDocument/2006/relationships/font" Target="fonts/font5.fntdata"/><Relationship Id="rId23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image" Target="../media/image-3-7.png"/><Relationship Id="rId8" Type="http://schemas.openxmlformats.org/officeDocument/2006/relationships/image" Target="../media/image-3-8.svg"/><Relationship Id="rId9" Type="http://schemas.openxmlformats.org/officeDocument/2006/relationships/image" Target="../media/image-3-9.png"/><Relationship Id="rId10" Type="http://schemas.openxmlformats.org/officeDocument/2006/relationships/image" Target="../media/image-3-10.svg"/><Relationship Id="rId11" Type="http://schemas.openxmlformats.org/officeDocument/2006/relationships/slideLayout" Target="../slideLayouts/slideLayout4.xml"/><Relationship Id="rId1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6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svg"/><Relationship Id="rId4" Type="http://schemas.openxmlformats.org/officeDocument/2006/relationships/image" Target="../media/image-7-4.png"/><Relationship Id="rId5" Type="http://schemas.openxmlformats.org/officeDocument/2006/relationships/image" Target="../media/image-7-5.svg"/><Relationship Id="rId6" Type="http://schemas.openxmlformats.org/officeDocument/2006/relationships/image" Target="../media/image-7-6.png"/><Relationship Id="rId7" Type="http://schemas.openxmlformats.org/officeDocument/2006/relationships/image" Target="../media/image-7-7.svg"/><Relationship Id="rId8" Type="http://schemas.openxmlformats.org/officeDocument/2006/relationships/image" Target="../media/image-7-8.png"/><Relationship Id="rId9" Type="http://schemas.openxmlformats.org/officeDocument/2006/relationships/image" Target="../media/image-7-9.svg"/><Relationship Id="rId10" Type="http://schemas.openxmlformats.org/officeDocument/2006/relationships/slideLayout" Target="../slideLayouts/slideLayout8.xml"/><Relationship Id="rId11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607" y="2925008"/>
            <a:ext cx="4919186" cy="237946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280190" y="2745462"/>
            <a:ext cx="743819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Influencer Connect Media</a:t>
            </a:r>
            <a:endParaRPr lang="en-US" sz="4450" dirty="0"/>
          </a:p>
        </p:txBody>
      </p:sp>
      <p:sp>
        <p:nvSpPr>
          <p:cNvPr id="5" name="Text 1"/>
          <p:cNvSpPr/>
          <p:nvPr/>
        </p:nvSpPr>
        <p:spPr>
          <a:xfrm>
            <a:off x="6280190" y="3794403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Previously known as Convogue Media</a:t>
            </a:r>
            <a:endParaRPr lang="en-US" sz="1750" dirty="0"/>
          </a:p>
        </p:txBody>
      </p:sp>
      <p:sp>
        <p:nvSpPr>
          <p:cNvPr id="6" name="Text 2"/>
          <p:cNvSpPr/>
          <p:nvPr/>
        </p:nvSpPr>
        <p:spPr>
          <a:xfrm>
            <a:off x="6280190" y="4412456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The Future of Influencer Marketing starts here.</a:t>
            </a:r>
            <a:endParaRPr lang="en-US" sz="1750" dirty="0"/>
          </a:p>
        </p:txBody>
      </p:sp>
      <p:sp>
        <p:nvSpPr>
          <p:cNvPr id="7" name="Text 3"/>
          <p:cNvSpPr/>
          <p:nvPr/>
        </p:nvSpPr>
        <p:spPr>
          <a:xfrm>
            <a:off x="6280190" y="5030510"/>
            <a:ext cx="7556421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550"/>
              </a:lnSpc>
              <a:buNone/>
            </a:pPr>
            <a:r>
              <a:rPr lang="en-US" sz="22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Done-for-you influencer growth for modern brands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1758434"/>
            <a:ext cx="272177" cy="426244"/>
          </a:xfrm>
          <a:prstGeom prst="roundRect">
            <a:avLst>
              <a:gd name="adj" fmla="val 60004"/>
            </a:avLst>
          </a:prstGeom>
          <a:solidFill>
            <a:srgbClr val="DDEEE0"/>
          </a:solidFill>
          <a:ln/>
        </p:spPr>
      </p:sp>
      <p:sp>
        <p:nvSpPr>
          <p:cNvPr id="3" name="Text 1"/>
          <p:cNvSpPr/>
          <p:nvPr/>
        </p:nvSpPr>
        <p:spPr>
          <a:xfrm>
            <a:off x="793790" y="2275403"/>
            <a:ext cx="851154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The New Reality of Marketing</a:t>
            </a:r>
            <a:endParaRPr lang="en-US" sz="44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93790" y="3324344"/>
            <a:ext cx="566976" cy="56697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93790" y="4174808"/>
            <a:ext cx="4158615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Creators as New Media Channels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93790" y="5019556"/>
            <a:ext cx="4158615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Influencers have become powerful media channels, reshaping how brands connect with their audiences and deliver messages.</a:t>
            </a:r>
            <a:endParaRPr lang="en-US" sz="17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5893" y="3324344"/>
            <a:ext cx="566976" cy="56697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235893" y="4174808"/>
            <a:ext cx="362759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Trust in Authentic Voices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5235893" y="4665226"/>
            <a:ext cx="4158615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Audiences increasingly trust people, not just advertisements. Authentic creator content builds credibility that traditional ads often lack.</a:t>
            </a:r>
            <a:endParaRPr lang="en-US" sz="17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677995" y="3324344"/>
            <a:ext cx="566976" cy="56697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677995" y="4174808"/>
            <a:ext cx="4158615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Performance Through Community</a:t>
            </a:r>
            <a:endParaRPr lang="en-US" sz="2200" dirty="0"/>
          </a:p>
        </p:txBody>
      </p:sp>
      <p:sp>
        <p:nvSpPr>
          <p:cNvPr id="12" name="Text 7"/>
          <p:cNvSpPr/>
          <p:nvPr/>
        </p:nvSpPr>
        <p:spPr>
          <a:xfrm>
            <a:off x="9677995" y="5019556"/>
            <a:ext cx="4158615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Today’s performance marketing stems from strong communities and engaging content, driving impactful results far beyond typical campaigns.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05683" y="912614"/>
            <a:ext cx="1109424" cy="364688"/>
          </a:xfrm>
          <a:prstGeom prst="roundRect">
            <a:avLst>
              <a:gd name="adj" fmla="val 39807"/>
            </a:avLst>
          </a:prstGeom>
          <a:solidFill>
            <a:srgbClr val="DDEEE0"/>
          </a:solidFill>
          <a:ln/>
        </p:spPr>
      </p:sp>
      <p:sp>
        <p:nvSpPr>
          <p:cNvPr id="3" name="Text 1"/>
          <p:cNvSpPr/>
          <p:nvPr/>
        </p:nvSpPr>
        <p:spPr>
          <a:xfrm>
            <a:off x="826651" y="973098"/>
            <a:ext cx="867489" cy="2437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CHAPTER 2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05683" y="1348978"/>
            <a:ext cx="6807637" cy="630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950"/>
              </a:lnSpc>
              <a:buNone/>
            </a:pPr>
            <a:r>
              <a:rPr lang="en-US" sz="39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The Problems Brands Face</a:t>
            </a:r>
            <a:endParaRPr lang="en-US" sz="39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81288" y="2253853"/>
            <a:ext cx="302419" cy="30241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60884" y="2247781"/>
            <a:ext cx="3895130" cy="3150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Finding High-Quality Creators</a:t>
            </a:r>
            <a:endParaRPr lang="en-US" sz="1950" dirty="0"/>
          </a:p>
        </p:txBody>
      </p:sp>
      <p:sp>
        <p:nvSpPr>
          <p:cNvPr id="7" name="Text 4"/>
          <p:cNvSpPr/>
          <p:nvPr/>
        </p:nvSpPr>
        <p:spPr>
          <a:xfrm>
            <a:off x="1360884" y="2670334"/>
            <a:ext cx="12563832" cy="304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Identifying genuinely impactful creators amidst a vast landscape is a constant challenge for brands.</a:t>
            </a:r>
            <a:endParaRPr lang="en-US" sz="15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1288" y="3339346"/>
            <a:ext cx="302419" cy="30241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60884" y="3333274"/>
            <a:ext cx="3819049" cy="3150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Fake Followers &amp; Engagement</a:t>
            </a:r>
            <a:endParaRPr lang="en-US" sz="1950" dirty="0"/>
          </a:p>
        </p:txBody>
      </p:sp>
      <p:sp>
        <p:nvSpPr>
          <p:cNvPr id="10" name="Text 6"/>
          <p:cNvSpPr/>
          <p:nvPr/>
        </p:nvSpPr>
        <p:spPr>
          <a:xfrm>
            <a:off x="1360884" y="3755827"/>
            <a:ext cx="12563832" cy="304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The prevalence of fraudulent metrics undermines campaign effectiveness and wastes valuable marketing budgets.</a:t>
            </a:r>
            <a:endParaRPr lang="en-US" sz="15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81288" y="4424839"/>
            <a:ext cx="302419" cy="302419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360884" y="4418767"/>
            <a:ext cx="4904423" cy="3150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Low ROI from Random Collaborations</a:t>
            </a:r>
            <a:endParaRPr lang="en-US" sz="1950" dirty="0"/>
          </a:p>
        </p:txBody>
      </p:sp>
      <p:sp>
        <p:nvSpPr>
          <p:cNvPr id="13" name="Text 8"/>
          <p:cNvSpPr/>
          <p:nvPr/>
        </p:nvSpPr>
        <p:spPr>
          <a:xfrm>
            <a:off x="1360884" y="4841319"/>
            <a:ext cx="12563832" cy="304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Without strategic planning, collaborations often yield minimal returns, failing to meet performance objectives.</a:t>
            </a:r>
            <a:endParaRPr lang="en-US" sz="155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81288" y="5510332"/>
            <a:ext cx="302419" cy="302419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360884" y="5504259"/>
            <a:ext cx="4780955" cy="3150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Manual Outreach &amp; Messy Workflows</a:t>
            </a:r>
            <a:endParaRPr lang="en-US" sz="1950" dirty="0"/>
          </a:p>
        </p:txBody>
      </p:sp>
      <p:sp>
        <p:nvSpPr>
          <p:cNvPr id="16" name="Text 10"/>
          <p:cNvSpPr/>
          <p:nvPr/>
        </p:nvSpPr>
        <p:spPr>
          <a:xfrm>
            <a:off x="1360884" y="5926812"/>
            <a:ext cx="12563832" cy="304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Managing influencer campaigns manually is time-consuming, prone to errors, and hinders scalable growth.</a:t>
            </a:r>
            <a:endParaRPr lang="en-US" sz="155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81288" y="6595824"/>
            <a:ext cx="302419" cy="302419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360884" y="6589752"/>
            <a:ext cx="3173849" cy="3150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Lack of Scalable Systems</a:t>
            </a:r>
            <a:endParaRPr lang="en-US" sz="1950" dirty="0"/>
          </a:p>
        </p:txBody>
      </p:sp>
      <p:sp>
        <p:nvSpPr>
          <p:cNvPr id="19" name="Text 12"/>
          <p:cNvSpPr/>
          <p:nvPr/>
        </p:nvSpPr>
        <p:spPr>
          <a:xfrm>
            <a:off x="1360884" y="7012305"/>
            <a:ext cx="12563832" cy="304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Many brands struggle to implement repeatable systems for influencer marketing, limiting their growth potential.</a:t>
            </a:r>
            <a:endParaRPr lang="en-US" sz="15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9852" y="1022628"/>
            <a:ext cx="1547932" cy="374333"/>
          </a:xfrm>
          <a:prstGeom prst="roundRect">
            <a:avLst>
              <a:gd name="adj" fmla="val 39562"/>
            </a:avLst>
          </a:prstGeom>
          <a:solidFill>
            <a:srgbClr val="DDEEE0"/>
          </a:solidFill>
          <a:ln/>
        </p:spPr>
      </p:sp>
      <p:sp>
        <p:nvSpPr>
          <p:cNvPr id="3" name="Text 1"/>
          <p:cNvSpPr/>
          <p:nvPr/>
        </p:nvSpPr>
        <p:spPr>
          <a:xfrm>
            <a:off x="843201" y="1084302"/>
            <a:ext cx="1301234" cy="250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2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OUR APPROACH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19852" y="1471493"/>
            <a:ext cx="12149257" cy="6426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050"/>
              </a:lnSpc>
              <a:buNone/>
            </a:pPr>
            <a:r>
              <a:rPr lang="en-US" sz="40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Our Solution: End-to-End Agency Management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719852" y="2702362"/>
            <a:ext cx="6502122" cy="1703903"/>
          </a:xfrm>
          <a:prstGeom prst="roundRect">
            <a:avLst>
              <a:gd name="adj" fmla="val 10864"/>
            </a:avLst>
          </a:prstGeom>
          <a:solidFill>
            <a:srgbClr val="FAFFFA"/>
          </a:solidFill>
          <a:ln w="22860">
            <a:solidFill>
              <a:srgbClr val="CED9C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2712" y="2725222"/>
            <a:ext cx="6456402" cy="205621"/>
          </a:xfrm>
          <a:prstGeom prst="roundRect">
            <a:avLst>
              <a:gd name="adj" fmla="val 76688"/>
            </a:avLst>
          </a:prstGeom>
          <a:solidFill>
            <a:srgbClr val="E8F3E8"/>
          </a:solidFill>
          <a:ln/>
        </p:spPr>
      </p:sp>
      <p:sp>
        <p:nvSpPr>
          <p:cNvPr id="7" name="Text 5"/>
          <p:cNvSpPr/>
          <p:nvPr/>
        </p:nvSpPr>
        <p:spPr>
          <a:xfrm>
            <a:off x="948333" y="3117294"/>
            <a:ext cx="2908816" cy="3212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Strategy Development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48333" y="3550325"/>
            <a:ext cx="6045160" cy="6274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6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We craft data-driven strategies tailored to your brand's unique goals and audience.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408426" y="2393871"/>
            <a:ext cx="6502122" cy="2012394"/>
          </a:xfrm>
          <a:prstGeom prst="roundRect">
            <a:avLst>
              <a:gd name="adj" fmla="val 9199"/>
            </a:avLst>
          </a:prstGeom>
          <a:solidFill>
            <a:srgbClr val="FAFFFA"/>
          </a:solidFill>
          <a:ln w="22860">
            <a:solidFill>
              <a:srgbClr val="CED9C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431286" y="2416731"/>
            <a:ext cx="6456402" cy="205621"/>
          </a:xfrm>
          <a:prstGeom prst="roundRect">
            <a:avLst>
              <a:gd name="adj" fmla="val 76688"/>
            </a:avLst>
          </a:prstGeom>
          <a:solidFill>
            <a:srgbClr val="E8F3E8"/>
          </a:solidFill>
          <a:ln/>
        </p:spPr>
      </p:sp>
      <p:sp>
        <p:nvSpPr>
          <p:cNvPr id="11" name="Text 9"/>
          <p:cNvSpPr/>
          <p:nvPr/>
        </p:nvSpPr>
        <p:spPr>
          <a:xfrm>
            <a:off x="7636907" y="2808803"/>
            <a:ext cx="3783330" cy="3212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Creator Sourcing &amp; Outreach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636907" y="3241834"/>
            <a:ext cx="6045160" cy="6274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6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Our experts identify and engage authentic, high-performing creators that align with your brand.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19852" y="4901208"/>
            <a:ext cx="6502122" cy="1703903"/>
          </a:xfrm>
          <a:prstGeom prst="roundRect">
            <a:avLst>
              <a:gd name="adj" fmla="val 10864"/>
            </a:avLst>
          </a:prstGeom>
          <a:solidFill>
            <a:srgbClr val="FAFFFA"/>
          </a:solidFill>
          <a:ln w="22860">
            <a:solidFill>
              <a:srgbClr val="CED9C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42712" y="4924068"/>
            <a:ext cx="6456402" cy="205621"/>
          </a:xfrm>
          <a:prstGeom prst="roundRect">
            <a:avLst>
              <a:gd name="adj" fmla="val 76688"/>
            </a:avLst>
          </a:prstGeom>
          <a:solidFill>
            <a:srgbClr val="E8F3E8"/>
          </a:solidFill>
          <a:ln/>
        </p:spPr>
      </p:sp>
      <p:sp>
        <p:nvSpPr>
          <p:cNvPr id="15" name="Text 13"/>
          <p:cNvSpPr/>
          <p:nvPr/>
        </p:nvSpPr>
        <p:spPr>
          <a:xfrm>
            <a:off x="948333" y="5316141"/>
            <a:ext cx="2571036" cy="3212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Seamless Execution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948333" y="5749171"/>
            <a:ext cx="6045160" cy="6274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6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From content briefs to legal agreements, we manage every aspect of campaign implementation.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408426" y="4592717"/>
            <a:ext cx="6502122" cy="2012394"/>
          </a:xfrm>
          <a:prstGeom prst="roundRect">
            <a:avLst>
              <a:gd name="adj" fmla="val 9199"/>
            </a:avLst>
          </a:prstGeom>
          <a:solidFill>
            <a:srgbClr val="FAFFFA"/>
          </a:solidFill>
          <a:ln w="22860">
            <a:solidFill>
              <a:srgbClr val="CED9C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431286" y="4615577"/>
            <a:ext cx="6456402" cy="205621"/>
          </a:xfrm>
          <a:prstGeom prst="roundRect">
            <a:avLst>
              <a:gd name="adj" fmla="val 76688"/>
            </a:avLst>
          </a:prstGeom>
          <a:solidFill>
            <a:srgbClr val="E8F3E8"/>
          </a:solidFill>
          <a:ln/>
        </p:spPr>
      </p:sp>
      <p:sp>
        <p:nvSpPr>
          <p:cNvPr id="19" name="Text 17"/>
          <p:cNvSpPr/>
          <p:nvPr/>
        </p:nvSpPr>
        <p:spPr>
          <a:xfrm>
            <a:off x="7636907" y="5007650"/>
            <a:ext cx="3115151" cy="3212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Performance Reporting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636907" y="5440680"/>
            <a:ext cx="6045160" cy="6274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6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Comprehensive analytics and actionable insights ensure continuous optimisation and demonstrable ROI.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19852" y="6814899"/>
            <a:ext cx="13190696" cy="3920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50"/>
              </a:lnSpc>
              <a:buNone/>
            </a:pPr>
            <a:r>
              <a:rPr lang="en-US" sz="20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We handle every detail, allowing you to focus on your core business while we drive performance.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95807" y="1429464"/>
            <a:ext cx="812483" cy="276582"/>
          </a:xfrm>
          <a:prstGeom prst="roundRect">
            <a:avLst>
              <a:gd name="adj" fmla="val 42401"/>
            </a:avLst>
          </a:prstGeom>
          <a:solidFill>
            <a:srgbClr val="DDEEE0"/>
          </a:solidFill>
          <a:ln/>
        </p:spPr>
      </p:sp>
      <p:sp>
        <p:nvSpPr>
          <p:cNvPr id="3" name="Text 1"/>
          <p:cNvSpPr/>
          <p:nvPr/>
        </p:nvSpPr>
        <p:spPr>
          <a:xfrm>
            <a:off x="1793438" y="1478280"/>
            <a:ext cx="617220" cy="1789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SERVICES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95807" y="1752719"/>
            <a:ext cx="6431280" cy="508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000"/>
              </a:lnSpc>
              <a:buNone/>
            </a:pPr>
            <a:r>
              <a:rPr lang="en-US" sz="32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What We Do: Our Core Services</a:t>
            </a:r>
            <a:endParaRPr lang="en-US" sz="3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5807" y="2437090"/>
            <a:ext cx="594003" cy="59400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435900" y="2437090"/>
            <a:ext cx="1960007" cy="5088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Influencer Discovery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2435900" y="3016091"/>
            <a:ext cx="1960007" cy="11191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Focused on identifying high-engagement nano and micro-creators who genuinely connect with their audiences.</a:t>
            </a:r>
            <a:endParaRPr lang="en-US" sz="12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1996" y="2437090"/>
            <a:ext cx="594003" cy="59400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282089" y="2437090"/>
            <a:ext cx="1960007" cy="763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Campaign Strategy &amp; Brief Creation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5282089" y="3270528"/>
            <a:ext cx="1960007" cy="11191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Developing precise campaign objectives, target audience insights, and detailed content briefs for optimal results.</a:t>
            </a:r>
            <a:endParaRPr lang="en-US" sz="12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8185" y="2437090"/>
            <a:ext cx="594003" cy="594003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128278" y="2437090"/>
            <a:ext cx="1960007" cy="5088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Creator Outreach &amp; Negotiation</a:t>
            </a:r>
            <a:endParaRPr lang="en-US" sz="1600" dirty="0"/>
          </a:p>
        </p:txBody>
      </p:sp>
      <p:sp>
        <p:nvSpPr>
          <p:cNvPr id="13" name="Text 8"/>
          <p:cNvSpPr/>
          <p:nvPr/>
        </p:nvSpPr>
        <p:spPr>
          <a:xfrm>
            <a:off x="8128278" y="3016091"/>
            <a:ext cx="1960007" cy="1343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Expertly managing communication and securing favourable terms with creators to ensure seamless collaborations.</a:t>
            </a:r>
            <a:endParaRPr lang="en-US" sz="125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34374" y="2437090"/>
            <a:ext cx="594003" cy="594003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0974467" y="2437090"/>
            <a:ext cx="1960126" cy="5088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Content Coordination</a:t>
            </a:r>
            <a:endParaRPr lang="en-US" sz="1600" dirty="0"/>
          </a:p>
        </p:txBody>
      </p:sp>
      <p:sp>
        <p:nvSpPr>
          <p:cNvPr id="16" name="Text 10"/>
          <p:cNvSpPr/>
          <p:nvPr/>
        </p:nvSpPr>
        <p:spPr>
          <a:xfrm>
            <a:off x="10974467" y="3016091"/>
            <a:ext cx="1960126" cy="11191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Overseeing content creation from concept to delivery, ensuring brand alignment and quality standards.</a:t>
            </a:r>
            <a:endParaRPr lang="en-US" sz="125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95807" y="4623554"/>
            <a:ext cx="594003" cy="594003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2435900" y="4623554"/>
            <a:ext cx="1960007" cy="5088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Paid Ads Using Creator Content</a:t>
            </a:r>
            <a:endParaRPr lang="en-US" sz="1600" dirty="0"/>
          </a:p>
        </p:txBody>
      </p:sp>
      <p:sp>
        <p:nvSpPr>
          <p:cNvPr id="19" name="Text 12"/>
          <p:cNvSpPr/>
          <p:nvPr/>
        </p:nvSpPr>
        <p:spPr>
          <a:xfrm>
            <a:off x="2435900" y="5202555"/>
            <a:ext cx="1960007" cy="1343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Transforming high-performing organic creator content into targeted paid advertisements for amplified reach.</a:t>
            </a:r>
            <a:endParaRPr lang="en-US" sz="1250" dirty="0"/>
          </a:p>
        </p:txBody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41996" y="4623554"/>
            <a:ext cx="594003" cy="594003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5282089" y="4623554"/>
            <a:ext cx="1960007" cy="763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Performance Tracking &amp; ROI Reporting</a:t>
            </a:r>
            <a:endParaRPr lang="en-US" sz="1600" dirty="0"/>
          </a:p>
        </p:txBody>
      </p:sp>
      <p:sp>
        <p:nvSpPr>
          <p:cNvPr id="22" name="Text 14"/>
          <p:cNvSpPr/>
          <p:nvPr/>
        </p:nvSpPr>
        <p:spPr>
          <a:xfrm>
            <a:off x="5282089" y="5456992"/>
            <a:ext cx="1960007" cy="1343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Providing transparent, data-driven reports to measure campaign success and demonstrate clear return on investment.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831294"/>
            <a:ext cx="1303615" cy="426244"/>
          </a:xfrm>
          <a:prstGeom prst="roundRect">
            <a:avLst>
              <a:gd name="adj" fmla="val 38315"/>
            </a:avLst>
          </a:prstGeom>
          <a:solidFill>
            <a:srgbClr val="DDEEE0"/>
          </a:solidFill>
          <a:ln/>
        </p:spPr>
      </p:sp>
      <p:sp>
        <p:nvSpPr>
          <p:cNvPr id="3" name="Text 1"/>
          <p:cNvSpPr/>
          <p:nvPr/>
        </p:nvSpPr>
        <p:spPr>
          <a:xfrm>
            <a:off x="929878" y="899279"/>
            <a:ext cx="1031438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OUR FOCUS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93790" y="1348264"/>
            <a:ext cx="927627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Why Nano &amp; Micro Creators Win</a:t>
            </a:r>
            <a:endParaRPr lang="en-US" sz="4450" dirty="0"/>
          </a:p>
        </p:txBody>
      </p:sp>
      <p:sp>
        <p:nvSpPr>
          <p:cNvPr id="5" name="Shape 3"/>
          <p:cNvSpPr/>
          <p:nvPr/>
        </p:nvSpPr>
        <p:spPr>
          <a:xfrm>
            <a:off x="793790" y="2397204"/>
            <a:ext cx="3090505" cy="3467219"/>
          </a:xfrm>
          <a:prstGeom prst="roundRect">
            <a:avLst>
              <a:gd name="adj" fmla="val 6606"/>
            </a:avLst>
          </a:prstGeom>
          <a:solidFill>
            <a:srgbClr val="E8F3E8"/>
          </a:solidFill>
          <a:ln/>
        </p:spPr>
      </p:sp>
      <p:sp>
        <p:nvSpPr>
          <p:cNvPr id="6" name="Text 4"/>
          <p:cNvSpPr/>
          <p:nvPr/>
        </p:nvSpPr>
        <p:spPr>
          <a:xfrm>
            <a:off x="1020604" y="2624018"/>
            <a:ext cx="2636877" cy="1062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Higher Engagement Rates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20604" y="3823097"/>
            <a:ext cx="2636877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Their smaller, more intimate audiences lead to deeper connections and more meaningful interactions.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4111109" y="2397204"/>
            <a:ext cx="3090624" cy="3467219"/>
          </a:xfrm>
          <a:prstGeom prst="roundRect">
            <a:avLst>
              <a:gd name="adj" fmla="val 6605"/>
            </a:avLst>
          </a:prstGeom>
          <a:solidFill>
            <a:srgbClr val="E8F3E8"/>
          </a:solidFill>
          <a:ln/>
        </p:spPr>
      </p:sp>
      <p:sp>
        <p:nvSpPr>
          <p:cNvPr id="9" name="Text 7"/>
          <p:cNvSpPr/>
          <p:nvPr/>
        </p:nvSpPr>
        <p:spPr>
          <a:xfrm>
            <a:off x="4337923" y="2624018"/>
            <a:ext cx="2636996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Cost-Effective Campaigns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337923" y="3468767"/>
            <a:ext cx="2636996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Accessing powerful influence at a fraction of the cost compared to macro-influencers.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7428548" y="2397204"/>
            <a:ext cx="3090624" cy="3467219"/>
          </a:xfrm>
          <a:prstGeom prst="roundRect">
            <a:avLst>
              <a:gd name="adj" fmla="val 6605"/>
            </a:avLst>
          </a:prstGeom>
          <a:solidFill>
            <a:srgbClr val="E8F3E8"/>
          </a:solidFill>
          <a:ln/>
        </p:spPr>
      </p:sp>
      <p:sp>
        <p:nvSpPr>
          <p:cNvPr id="12" name="Text 10"/>
          <p:cNvSpPr/>
          <p:nvPr/>
        </p:nvSpPr>
        <p:spPr>
          <a:xfrm>
            <a:off x="7655362" y="2624018"/>
            <a:ext cx="2636996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Authenticity &amp; Trust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7655362" y="3468767"/>
            <a:ext cx="2636996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Perceived as more genuine, fostering greater trust and credibility with their followers.</a:t>
            </a:r>
            <a:endParaRPr lang="en-US" sz="1750" dirty="0"/>
          </a:p>
        </p:txBody>
      </p:sp>
      <p:sp>
        <p:nvSpPr>
          <p:cNvPr id="14" name="Shape 12"/>
          <p:cNvSpPr/>
          <p:nvPr/>
        </p:nvSpPr>
        <p:spPr>
          <a:xfrm>
            <a:off x="10745986" y="2397204"/>
            <a:ext cx="3090624" cy="3467219"/>
          </a:xfrm>
          <a:prstGeom prst="roundRect">
            <a:avLst>
              <a:gd name="adj" fmla="val 6605"/>
            </a:avLst>
          </a:prstGeom>
          <a:solidFill>
            <a:srgbClr val="E8F3E8"/>
          </a:solidFill>
          <a:ln/>
        </p:spPr>
      </p:sp>
      <p:sp>
        <p:nvSpPr>
          <p:cNvPr id="15" name="Text 13"/>
          <p:cNvSpPr/>
          <p:nvPr/>
        </p:nvSpPr>
        <p:spPr>
          <a:xfrm>
            <a:off x="10972800" y="2624018"/>
            <a:ext cx="2636996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Scalability &amp; Reach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0972800" y="3468767"/>
            <a:ext cx="2636996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Leveraging a large volume of micro-creators can achieve significant collective reach and impact.</a:t>
            </a:r>
            <a:endParaRPr lang="en-US" sz="1750" dirty="0"/>
          </a:p>
        </p:txBody>
      </p:sp>
      <p:sp>
        <p:nvSpPr>
          <p:cNvPr id="17" name="Shape 15"/>
          <p:cNvSpPr/>
          <p:nvPr/>
        </p:nvSpPr>
        <p:spPr>
          <a:xfrm>
            <a:off x="793790" y="6091238"/>
            <a:ext cx="13042821" cy="1306949"/>
          </a:xfrm>
          <a:prstGeom prst="roundRect">
            <a:avLst>
              <a:gd name="adj" fmla="val 15620"/>
            </a:avLst>
          </a:prstGeom>
          <a:solidFill>
            <a:srgbClr val="E8F3E8"/>
          </a:solidFill>
          <a:ln/>
        </p:spPr>
      </p:sp>
      <p:sp>
        <p:nvSpPr>
          <p:cNvPr id="18" name="Text 16"/>
          <p:cNvSpPr/>
          <p:nvPr/>
        </p:nvSpPr>
        <p:spPr>
          <a:xfrm>
            <a:off x="1020604" y="6318052"/>
            <a:ext cx="463557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Optimised Paid Ad Performance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020604" y="6808470"/>
            <a:ext cx="1258919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Their authentic content naturally resonates better in paid amplification, driving stronger results.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64682" y="505063"/>
            <a:ext cx="841415" cy="303967"/>
          </a:xfrm>
          <a:prstGeom prst="roundRect">
            <a:avLst>
              <a:gd name="adj" fmla="val 41541"/>
            </a:avLst>
          </a:prstGeom>
          <a:solidFill>
            <a:srgbClr val="DDEEE0"/>
          </a:solidFill>
          <a:ln/>
        </p:spPr>
      </p:sp>
      <p:sp>
        <p:nvSpPr>
          <p:cNvPr id="3" name="Text 1"/>
          <p:cNvSpPr/>
          <p:nvPr/>
        </p:nvSpPr>
        <p:spPr>
          <a:xfrm>
            <a:off x="1369814" y="557570"/>
            <a:ext cx="631150" cy="1989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PROCESS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264682" y="863203"/>
            <a:ext cx="8748593" cy="5479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300"/>
              </a:lnSpc>
              <a:buNone/>
            </a:pPr>
            <a:r>
              <a:rPr lang="en-US" sz="34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Our Process: How We Partner With You</a:t>
            </a:r>
            <a:endParaRPr lang="en-US" sz="34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75780" y="1614488"/>
            <a:ext cx="11678841" cy="5708690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64968" y="2956216"/>
            <a:ext cx="423532" cy="42353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359903" y="3578656"/>
            <a:ext cx="2722704" cy="340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Onboarding</a:t>
            </a:r>
            <a:endParaRPr lang="en-US" sz="21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28507" y="3803279"/>
            <a:ext cx="423532" cy="423532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8204641" y="2271758"/>
            <a:ext cx="2722704" cy="340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Creator Profile</a:t>
            </a:r>
            <a:endParaRPr lang="en-US" sz="21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629658" y="5582112"/>
            <a:ext cx="423532" cy="423532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547653" y="4958159"/>
            <a:ext cx="2722704" cy="340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Sourcing &amp; Vetting</a:t>
            </a:r>
            <a:endParaRPr lang="en-US" sz="2100" dirty="0"/>
          </a:p>
        </p:txBody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766308" y="4783452"/>
            <a:ext cx="423532" cy="423532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3691003" y="6289259"/>
            <a:ext cx="2722704" cy="340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Execute &amp; Amplify</a:t>
            </a:r>
            <a:endParaRPr lang="en-US" sz="2100" dirty="0"/>
          </a:p>
        </p:txBody>
      </p:sp>
      <p:sp>
        <p:nvSpPr>
          <p:cNvPr id="14" name="Text 7"/>
          <p:cNvSpPr/>
          <p:nvPr/>
        </p:nvSpPr>
        <p:spPr>
          <a:xfrm>
            <a:off x="1264682" y="7475696"/>
            <a:ext cx="12101036" cy="2487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Our structured approach ensures transparency, efficiency, and continuous improvement throughout your influencer marketing journey.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1386245"/>
            <a:ext cx="981075" cy="426244"/>
          </a:xfrm>
          <a:prstGeom prst="roundRect">
            <a:avLst>
              <a:gd name="adj" fmla="val 38315"/>
            </a:avLst>
          </a:prstGeom>
          <a:solidFill>
            <a:srgbClr val="DDEEE0"/>
          </a:solidFill>
          <a:ln/>
        </p:spPr>
      </p:sp>
      <p:sp>
        <p:nvSpPr>
          <p:cNvPr id="3" name="Text 1"/>
          <p:cNvSpPr/>
          <p:nvPr/>
        </p:nvSpPr>
        <p:spPr>
          <a:xfrm>
            <a:off x="929878" y="1454229"/>
            <a:ext cx="708898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IMPACT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93790" y="1903214"/>
            <a:ext cx="1225974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How We Drive ROI: Paid Ads with Creators</a:t>
            </a:r>
            <a:endParaRPr lang="en-US" sz="4450" dirty="0"/>
          </a:p>
        </p:txBody>
      </p:sp>
      <p:sp>
        <p:nvSpPr>
          <p:cNvPr id="5" name="Shape 3"/>
          <p:cNvSpPr/>
          <p:nvPr/>
        </p:nvSpPr>
        <p:spPr>
          <a:xfrm>
            <a:off x="793790" y="2952155"/>
            <a:ext cx="3090505" cy="3891082"/>
          </a:xfrm>
          <a:prstGeom prst="roundRect">
            <a:avLst>
              <a:gd name="adj" fmla="val 4734"/>
            </a:avLst>
          </a:prstGeom>
          <a:solidFill>
            <a:srgbClr val="FAFFFA"/>
          </a:solidFill>
          <a:ln w="30480">
            <a:solidFill>
              <a:srgbClr val="CED9C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63310" y="2952155"/>
            <a:ext cx="121920" cy="3891082"/>
          </a:xfrm>
          <a:prstGeom prst="roundRect">
            <a:avLst>
              <a:gd name="adj" fmla="val 167442"/>
            </a:avLst>
          </a:prstGeom>
          <a:solidFill>
            <a:srgbClr val="438951"/>
          </a:solidFill>
          <a:ln/>
        </p:spPr>
      </p:sp>
      <p:sp>
        <p:nvSpPr>
          <p:cNvPr id="7" name="Text 5"/>
          <p:cNvSpPr/>
          <p:nvPr/>
        </p:nvSpPr>
        <p:spPr>
          <a:xfrm>
            <a:off x="1142524" y="3209449"/>
            <a:ext cx="2484477" cy="1062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Creator Content for Performance Ads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142524" y="4408527"/>
            <a:ext cx="2484477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We transform authentic creator content into high-converting paid social advertisements.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4111109" y="2952155"/>
            <a:ext cx="3090624" cy="3891082"/>
          </a:xfrm>
          <a:prstGeom prst="roundRect">
            <a:avLst>
              <a:gd name="adj" fmla="val 4734"/>
            </a:avLst>
          </a:prstGeom>
          <a:solidFill>
            <a:srgbClr val="FAFFFA"/>
          </a:solidFill>
          <a:ln w="30480">
            <a:solidFill>
              <a:srgbClr val="CED9C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080629" y="2952155"/>
            <a:ext cx="121920" cy="3891082"/>
          </a:xfrm>
          <a:prstGeom prst="roundRect">
            <a:avLst>
              <a:gd name="adj" fmla="val 167442"/>
            </a:avLst>
          </a:prstGeom>
          <a:solidFill>
            <a:srgbClr val="438951"/>
          </a:solidFill>
          <a:ln/>
        </p:spPr>
      </p:sp>
      <p:sp>
        <p:nvSpPr>
          <p:cNvPr id="11" name="Text 9"/>
          <p:cNvSpPr/>
          <p:nvPr/>
        </p:nvSpPr>
        <p:spPr>
          <a:xfrm>
            <a:off x="4459843" y="3209449"/>
            <a:ext cx="2484596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Scale Winning Creatives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459843" y="4054197"/>
            <a:ext cx="2484596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Identify top-performing content and amplify its reach through strategic paid media budgets.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7428548" y="2952155"/>
            <a:ext cx="3090624" cy="3891082"/>
          </a:xfrm>
          <a:prstGeom prst="roundRect">
            <a:avLst>
              <a:gd name="adj" fmla="val 4734"/>
            </a:avLst>
          </a:prstGeom>
          <a:solidFill>
            <a:srgbClr val="FAFFFA"/>
          </a:solidFill>
          <a:ln w="30480">
            <a:solidFill>
              <a:srgbClr val="CED9C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98067" y="2952155"/>
            <a:ext cx="121920" cy="3891082"/>
          </a:xfrm>
          <a:prstGeom prst="roundRect">
            <a:avLst>
              <a:gd name="adj" fmla="val 167442"/>
            </a:avLst>
          </a:prstGeom>
          <a:solidFill>
            <a:srgbClr val="438951"/>
          </a:solidFill>
          <a:ln/>
        </p:spPr>
      </p:sp>
      <p:sp>
        <p:nvSpPr>
          <p:cNvPr id="15" name="Text 13"/>
          <p:cNvSpPr/>
          <p:nvPr/>
        </p:nvSpPr>
        <p:spPr>
          <a:xfrm>
            <a:off x="7777282" y="3209449"/>
            <a:ext cx="2484596" cy="1062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Lower Customer Acquisition Cost (CAC)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7777282" y="4408527"/>
            <a:ext cx="2484596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Leverage trusted voices to significantly reduce your CAC compared to traditional ad creatives.</a:t>
            </a:r>
            <a:endParaRPr lang="en-US" sz="1750" dirty="0"/>
          </a:p>
        </p:txBody>
      </p:sp>
      <p:sp>
        <p:nvSpPr>
          <p:cNvPr id="17" name="Shape 15"/>
          <p:cNvSpPr/>
          <p:nvPr/>
        </p:nvSpPr>
        <p:spPr>
          <a:xfrm>
            <a:off x="10745986" y="2952155"/>
            <a:ext cx="3090624" cy="3891082"/>
          </a:xfrm>
          <a:prstGeom prst="roundRect">
            <a:avLst>
              <a:gd name="adj" fmla="val 4734"/>
            </a:avLst>
          </a:prstGeom>
          <a:solidFill>
            <a:srgbClr val="FAFFFA"/>
          </a:solidFill>
          <a:ln w="30480">
            <a:solidFill>
              <a:srgbClr val="CED9C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715506" y="2952155"/>
            <a:ext cx="121920" cy="3891082"/>
          </a:xfrm>
          <a:prstGeom prst="roundRect">
            <a:avLst>
              <a:gd name="adj" fmla="val 167442"/>
            </a:avLst>
          </a:prstGeom>
          <a:solidFill>
            <a:srgbClr val="438951"/>
          </a:solidFill>
          <a:ln/>
        </p:spPr>
      </p:sp>
      <p:sp>
        <p:nvSpPr>
          <p:cNvPr id="19" name="Text 17"/>
          <p:cNvSpPr/>
          <p:nvPr/>
        </p:nvSpPr>
        <p:spPr>
          <a:xfrm>
            <a:off x="11094720" y="3209449"/>
            <a:ext cx="2484596" cy="1062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Always Performance-Focused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1094720" y="4408527"/>
            <a:ext cx="2484596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Every paid ad campaign is optimised for tangible results, driving conversions and measurable growth.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943689"/>
            <a:ext cx="1232178" cy="426244"/>
          </a:xfrm>
          <a:prstGeom prst="roundRect">
            <a:avLst>
              <a:gd name="adj" fmla="val 38315"/>
            </a:avLst>
          </a:prstGeom>
          <a:solidFill>
            <a:srgbClr val="DDEEE0"/>
          </a:solidFill>
          <a:ln/>
        </p:spPr>
      </p:sp>
      <p:sp>
        <p:nvSpPr>
          <p:cNvPr id="3" name="Text 1"/>
          <p:cNvSpPr/>
          <p:nvPr/>
        </p:nvSpPr>
        <p:spPr>
          <a:xfrm>
            <a:off x="929878" y="1011674"/>
            <a:ext cx="960001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PARTNERS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93790" y="1460659"/>
            <a:ext cx="6333053" cy="7163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Who We Work With</a:t>
            </a:r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👜</a:t>
            </a:r>
            <a:endParaRPr lang="en-US" sz="4450" dirty="0"/>
          </a:p>
        </p:txBody>
      </p:sp>
      <p:sp>
        <p:nvSpPr>
          <p:cNvPr id="5" name="Shape 3"/>
          <p:cNvSpPr/>
          <p:nvPr/>
        </p:nvSpPr>
        <p:spPr>
          <a:xfrm>
            <a:off x="793790" y="2517219"/>
            <a:ext cx="6407944" cy="2448044"/>
          </a:xfrm>
          <a:prstGeom prst="roundRect">
            <a:avLst>
              <a:gd name="adj" fmla="val 8339"/>
            </a:avLst>
          </a:prstGeom>
          <a:solidFill>
            <a:srgbClr val="FAFFFA"/>
          </a:solidFill>
          <a:ln w="30480">
            <a:solidFill>
              <a:srgbClr val="CED9C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084" y="2774513"/>
            <a:ext cx="5893356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Direct-to-Consumer (DTC)/ Business-to-business Brands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51084" y="3619262"/>
            <a:ext cx="589335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Brands seeking to build authentic communities and drive direct sales through performance-focused influencer campaigns.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7428548" y="2517219"/>
            <a:ext cx="6408063" cy="2448044"/>
          </a:xfrm>
          <a:prstGeom prst="roundRect">
            <a:avLst>
              <a:gd name="adj" fmla="val 8339"/>
            </a:avLst>
          </a:prstGeom>
          <a:solidFill>
            <a:srgbClr val="FAFFFA"/>
          </a:solidFill>
          <a:ln w="30480">
            <a:solidFill>
              <a:srgbClr val="CED9C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685842" y="277451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Consumer Brands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685842" y="3264932"/>
            <a:ext cx="589347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Established brands looking to inject fresh, relatable content into their marketing mix and reach new audiences.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793790" y="5192078"/>
            <a:ext cx="6407944" cy="2093714"/>
          </a:xfrm>
          <a:prstGeom prst="roundRect">
            <a:avLst>
              <a:gd name="adj" fmla="val 9750"/>
            </a:avLst>
          </a:prstGeom>
          <a:solidFill>
            <a:srgbClr val="FAFFFA"/>
          </a:solidFill>
          <a:ln w="30480">
            <a:solidFill>
              <a:srgbClr val="CED9C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084" y="5449372"/>
            <a:ext cx="435733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High-Volume Campaign Needs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051084" y="5939790"/>
            <a:ext cx="589335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Brands requiring the execution of multiple influencer campaigns per month, demanding efficiency and scalability.</a:t>
            </a:r>
            <a:endParaRPr lang="en-US" sz="1750" dirty="0"/>
          </a:p>
        </p:txBody>
      </p:sp>
      <p:sp>
        <p:nvSpPr>
          <p:cNvPr id="14" name="Shape 12"/>
          <p:cNvSpPr/>
          <p:nvPr/>
        </p:nvSpPr>
        <p:spPr>
          <a:xfrm>
            <a:off x="7428548" y="5192078"/>
            <a:ext cx="6408063" cy="2093714"/>
          </a:xfrm>
          <a:prstGeom prst="roundRect">
            <a:avLst>
              <a:gd name="adj" fmla="val 9750"/>
            </a:avLst>
          </a:prstGeom>
          <a:solidFill>
            <a:srgbClr val="FAFFFA"/>
          </a:solidFill>
          <a:ln w="30480">
            <a:solidFill>
              <a:srgbClr val="CED9C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5842" y="5449372"/>
            <a:ext cx="34398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Beyond SMMA Agencies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7685842" y="5939790"/>
            <a:ext cx="589347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Brands ready to move beyond generic social media management to a specialised, results-driven influencer strategy.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815697"/>
            <a:ext cx="1182410" cy="426244"/>
          </a:xfrm>
          <a:prstGeom prst="roundRect">
            <a:avLst>
              <a:gd name="adj" fmla="val 38315"/>
            </a:avLst>
          </a:prstGeom>
          <a:solidFill>
            <a:srgbClr val="DDEEE0"/>
          </a:solidFill>
          <a:ln/>
        </p:spPr>
      </p:sp>
      <p:sp>
        <p:nvSpPr>
          <p:cNvPr id="3" name="Text 1"/>
          <p:cNvSpPr/>
          <p:nvPr/>
        </p:nvSpPr>
        <p:spPr>
          <a:xfrm>
            <a:off x="929878" y="883682"/>
            <a:ext cx="910233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OUR EDGE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93790" y="1332667"/>
            <a:ext cx="730269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Who We Don't Work With</a:t>
            </a:r>
            <a:endParaRPr lang="en-US" sz="4450" dirty="0"/>
          </a:p>
        </p:txBody>
      </p:sp>
      <p:sp>
        <p:nvSpPr>
          <p:cNvPr id="5" name="Shape 3"/>
          <p:cNvSpPr/>
          <p:nvPr/>
        </p:nvSpPr>
        <p:spPr>
          <a:xfrm>
            <a:off x="793790" y="2381607"/>
            <a:ext cx="6407944" cy="2093714"/>
          </a:xfrm>
          <a:prstGeom prst="roundRect">
            <a:avLst>
              <a:gd name="adj" fmla="val 9750"/>
            </a:avLst>
          </a:prstGeom>
          <a:solidFill>
            <a:srgbClr val="FAFFFA"/>
          </a:solidFill>
          <a:ln w="30480">
            <a:solidFill>
              <a:srgbClr val="CED9C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084" y="263890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Gambling Brands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51084" y="3129320"/>
            <a:ext cx="589335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Due to ethical considerations and to uphold our brand-safe environment, we do not engage in promotions for gambling-related services or products.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7428548" y="2381607"/>
            <a:ext cx="6408063" cy="2093714"/>
          </a:xfrm>
          <a:prstGeom prst="roundRect">
            <a:avLst>
              <a:gd name="adj" fmla="val 9750"/>
            </a:avLst>
          </a:prstGeom>
          <a:solidFill>
            <a:srgbClr val="FAFFFA"/>
          </a:solidFill>
          <a:ln w="30480">
            <a:solidFill>
              <a:srgbClr val="CED9C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685842" y="2638901"/>
            <a:ext cx="396740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Drugs/Prescription Brands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685842" y="3129320"/>
            <a:ext cx="589347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We adhere to strict regulatory guidelines and ethical standards, ensuring we do not work with pharmaceutical or prescription drug brands.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793790" y="4702135"/>
            <a:ext cx="13042821" cy="1730812"/>
          </a:xfrm>
          <a:prstGeom prst="roundRect">
            <a:avLst>
              <a:gd name="adj" fmla="val 11795"/>
            </a:avLst>
          </a:prstGeom>
          <a:solidFill>
            <a:srgbClr val="FAFFFA"/>
          </a:solidFill>
          <a:ln w="30480">
            <a:solidFill>
              <a:srgbClr val="CED9C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084" y="4959429"/>
            <a:ext cx="334172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Adult Content Creators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051084" y="5449848"/>
            <a:ext cx="1252823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To maintain a professional and brand-safe ecosystem for our clients, we do not partner with creators primarily associated with adult content platforms.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793790" y="6688098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Our commitment is to foster responsible and high-quality partnerships that align with our values and those of our clients.</a:t>
            </a:r>
            <a:endParaRPr lang="en-US" sz="1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1270873"/>
            <a:ext cx="1182410" cy="426244"/>
          </a:xfrm>
          <a:prstGeom prst="roundRect">
            <a:avLst>
              <a:gd name="adj" fmla="val 38315"/>
            </a:avLst>
          </a:prstGeom>
          <a:solidFill>
            <a:srgbClr val="DDEEE0"/>
          </a:solidFill>
          <a:ln/>
        </p:spPr>
      </p:sp>
      <p:sp>
        <p:nvSpPr>
          <p:cNvPr id="3" name="Text 1"/>
          <p:cNvSpPr/>
          <p:nvPr/>
        </p:nvSpPr>
        <p:spPr>
          <a:xfrm>
            <a:off x="929878" y="1338858"/>
            <a:ext cx="910233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OUR EDGE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93790" y="1787843"/>
            <a:ext cx="722137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What Makes Us Different</a:t>
            </a:r>
            <a:endParaRPr lang="en-US" sz="4450" dirty="0"/>
          </a:p>
        </p:txBody>
      </p:sp>
      <p:sp>
        <p:nvSpPr>
          <p:cNvPr id="5" name="Shape 3"/>
          <p:cNvSpPr/>
          <p:nvPr/>
        </p:nvSpPr>
        <p:spPr>
          <a:xfrm>
            <a:off x="793790" y="2836783"/>
            <a:ext cx="510302" cy="510302"/>
          </a:xfrm>
          <a:prstGeom prst="roundRect">
            <a:avLst>
              <a:gd name="adj" fmla="val 40005"/>
            </a:avLst>
          </a:prstGeom>
          <a:solidFill>
            <a:srgbClr val="E8F3E8"/>
          </a:solidFill>
          <a:ln/>
        </p:spPr>
      </p:sp>
      <p:sp>
        <p:nvSpPr>
          <p:cNvPr id="6" name="Text 4"/>
          <p:cNvSpPr/>
          <p:nvPr/>
        </p:nvSpPr>
        <p:spPr>
          <a:xfrm>
            <a:off x="1530906" y="2914650"/>
            <a:ext cx="5642491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Performance-First Influencer Marketing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530906" y="3759398"/>
            <a:ext cx="564249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Every campaign is engineered for measurable results, focusing on ROI rather than vanity metrics.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7456884" y="2836783"/>
            <a:ext cx="510302" cy="510302"/>
          </a:xfrm>
          <a:prstGeom prst="roundRect">
            <a:avLst>
              <a:gd name="adj" fmla="val 40005"/>
            </a:avLst>
          </a:prstGeom>
          <a:solidFill>
            <a:srgbClr val="E8F3E8"/>
          </a:solidFill>
          <a:ln/>
        </p:spPr>
      </p:sp>
      <p:sp>
        <p:nvSpPr>
          <p:cNvPr id="9" name="Text 7"/>
          <p:cNvSpPr/>
          <p:nvPr/>
        </p:nvSpPr>
        <p:spPr>
          <a:xfrm>
            <a:off x="8194000" y="2914650"/>
            <a:ext cx="530328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Dedicated Nano/Micro Creator Niche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8194000" y="3405068"/>
            <a:ext cx="564261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Our specialisation in high-engagement, cost-effective creators unlocks unparalleled authentic reach.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793790" y="4947404"/>
            <a:ext cx="510302" cy="510302"/>
          </a:xfrm>
          <a:prstGeom prst="roundRect">
            <a:avLst>
              <a:gd name="adj" fmla="val 40005"/>
            </a:avLst>
          </a:prstGeom>
          <a:solidFill>
            <a:srgbClr val="E8F3E8"/>
          </a:solidFill>
          <a:ln/>
        </p:spPr>
      </p:sp>
      <p:sp>
        <p:nvSpPr>
          <p:cNvPr id="12" name="Text 10"/>
          <p:cNvSpPr/>
          <p:nvPr/>
        </p:nvSpPr>
        <p:spPr>
          <a:xfrm>
            <a:off x="1530906" y="5025271"/>
            <a:ext cx="561510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Integrated Paid Amplification Strategy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530906" y="5515689"/>
            <a:ext cx="564249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We don't just find creators; we supercharge their content with targeted paid ads for maximum impact.</a:t>
            </a:r>
            <a:endParaRPr lang="en-US" sz="1750" dirty="0"/>
          </a:p>
        </p:txBody>
      </p:sp>
      <p:sp>
        <p:nvSpPr>
          <p:cNvPr id="14" name="Shape 12"/>
          <p:cNvSpPr/>
          <p:nvPr/>
        </p:nvSpPr>
        <p:spPr>
          <a:xfrm>
            <a:off x="7456884" y="4947404"/>
            <a:ext cx="510302" cy="510302"/>
          </a:xfrm>
          <a:prstGeom prst="roundRect">
            <a:avLst>
              <a:gd name="adj" fmla="val 40005"/>
            </a:avLst>
          </a:prstGeom>
          <a:solidFill>
            <a:srgbClr val="E8F3E8"/>
          </a:solidFill>
          <a:ln/>
        </p:spPr>
      </p:sp>
      <p:sp>
        <p:nvSpPr>
          <p:cNvPr id="15" name="Text 13"/>
          <p:cNvSpPr/>
          <p:nvPr/>
        </p:nvSpPr>
        <p:spPr>
          <a:xfrm>
            <a:off x="8194000" y="5025271"/>
            <a:ext cx="564261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Systematic Approach, Not Random Collaborations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8194000" y="5870019"/>
            <a:ext cx="564261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Our methodical framework ensures consistent quality, scalability, and predictable outcomes for your brand.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2026-02-07T13:03:38Z</dcterms:created>
  <dcterms:modified xsi:type="dcterms:W3CDTF">2026-02-07T13:03:38Z</dcterms:modified>
</cp:coreProperties>
</file>